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2" r:id="rId3"/>
    <p:sldId id="269" r:id="rId4"/>
    <p:sldId id="272" r:id="rId5"/>
    <p:sldId id="273" r:id="rId6"/>
    <p:sldId id="283" r:id="rId7"/>
    <p:sldId id="276" r:id="rId8"/>
    <p:sldId id="284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9"/>
  </p:normalViewPr>
  <p:slideViewPr>
    <p:cSldViewPr snapToGrid="0">
      <p:cViewPr varScale="1">
        <p:scale>
          <a:sx n="114" d="100"/>
          <a:sy n="114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CBE9A-1E2D-4E42-A46E-43071FC4EA58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72733-A59C-BB40-AF4F-795EE6140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94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1877-F07B-4FA6-DB7F-EDB672ED8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8B509-A912-88B7-6FAE-71717AFAF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0835D-83D0-9467-BE2C-319508764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88B88-5B92-63C6-FEC2-20249D857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4C684-42C1-6046-8F65-C7924DC978C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85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995D-F29C-F462-9316-296500C4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9621B-D00D-A45D-506A-99EEB01FA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AE876-F4D3-8D83-398B-52F9B9819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96DD4-C387-F388-CF5E-D4A9A9F77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4C684-42C1-6046-8F65-C7924DC978C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357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DA068-3E19-A3C7-C9B7-2974B878A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F4506-7995-609F-A337-2BFE40481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509BA-634A-EA1F-086B-444AA8585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91021-6B32-5703-6CA9-83D332327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4C684-42C1-6046-8F65-C7924DC978C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50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A683C-512C-DA02-6862-D306CFE28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71B61-5168-4A39-A571-A034190A2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35087-B18C-15C4-EFD1-A3AB583C3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14E14-53FF-2208-B943-98C288C84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4C684-42C1-6046-8F65-C7924DC978C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5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91F44-C1EC-DAF6-CC40-1C597067D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EC9C7-4DB6-F976-E420-585592B27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E8A28-91FC-5907-9F7E-39F8253AE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991E1-789B-B2F0-F96D-6B49801B0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4C684-42C1-6046-8F65-C7924DC978C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25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FB41D-00A5-8BCD-36BA-F97064CAA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358BA-95DB-6E41-E4ED-153A6D241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EC285-70DA-3A30-CD02-B04ECFC10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8287F-7E6F-E8DB-39DF-83602961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4C684-42C1-6046-8F65-C7924DC978C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12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9B3CE-58D5-41EC-DA48-467F67D5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5D0D6-B53C-AE81-3FFA-51D557067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97FF7-72D5-11A2-04B3-B10F033E1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E1B9D-26DE-7039-6257-417A16A62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4C684-42C1-6046-8F65-C7924DC978C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499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72BC8-DF31-2063-90F7-637405198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A6651-35D2-1FE5-61E2-D5B4C553F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577F1-3FC7-47DD-42A6-514FB9681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90F6-32AF-2C4F-897B-A57EC1F3BA58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C1C44-DEB5-9745-D80D-EEC3F4EB5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4BD6C-3D7C-3984-B849-27EC83DD4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5B624-BDC4-ED43-B0C3-2A10DAEC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29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F8AC-176A-ACA3-79D3-01D29771F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B6448-E7E1-FA5F-BEFE-357009D3C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ED935-658D-D76A-07D0-A0B5A3EA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90F6-32AF-2C4F-897B-A57EC1F3BA58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1ECDB-BE61-7549-87AE-A3F0C079F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E3E62-239C-9EF2-809E-8C0B3E2D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5B624-BDC4-ED43-B0C3-2A10DAEC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7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50B8-455C-1EEF-D952-5BCD58209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F4845-6069-231C-81CB-CFABEBE08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F048A-6840-5A80-CC8B-9303E7547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90F6-32AF-2C4F-897B-A57EC1F3BA58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77CEA-F19D-C3DD-1E3B-43121B6E7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385A0-B21E-0419-FD79-B26F1DDA8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5B624-BDC4-ED43-B0C3-2A10DAEC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26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C5835-7506-3400-6BF7-9BE99D10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C0946-FCC7-199A-E6E9-6222634782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6E6B6-47AF-4EC1-5386-25E4D1BA1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160E0-6C2E-49A4-8F59-2E1BAA52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90F6-32AF-2C4F-897B-A57EC1F3BA58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0ECBD-2425-9DEC-4E95-50AE851AC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2127E-78DB-BF38-59F0-DA6617BC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5B624-BDC4-ED43-B0C3-2A10DAEC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95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A8F3B-AAE6-4E28-882B-63456855D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4AE64-F71E-7918-1310-B28E05814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BA4A3-32EC-416F-9E40-309DF4861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FDAC0E-B3E6-E87B-149A-390F5BD7E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3B953-EA55-C4C9-C52A-2424B3FB88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06A76D-A50F-E0C0-DED1-83C28C99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90F6-32AF-2C4F-897B-A57EC1F3BA58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F7C540-6292-A9A9-98E8-CF77E009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A0F7FC-699B-7682-DD4A-9541E38B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5B624-BDC4-ED43-B0C3-2A10DAEC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25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2DB09-6C32-33C7-E08F-025A64F33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F43F7E-5521-8D06-BE74-D1B60525E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90F6-32AF-2C4F-897B-A57EC1F3BA58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B5663-9DFD-3659-5866-1C861050F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DDFD9-9678-3E68-ABEA-E6C33A8E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5B624-BDC4-ED43-B0C3-2A10DAEC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28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65ED9-DDB4-DB47-2AD7-DD1D9F967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90F6-32AF-2C4F-897B-A57EC1F3BA58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ECECCF-BF41-BAAA-9811-B4B62B94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96F75-6384-1E8F-941C-8D3BBA749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5B624-BDC4-ED43-B0C3-2A10DAEC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93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F65FC-49AC-963E-0917-526B666AD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C846-3119-3A5D-CA8D-29D0F8A50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7AAB6-2EA5-AB30-E3E5-784EF0C7D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05F4D-CB81-A84F-BACE-717545351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90F6-32AF-2C4F-897B-A57EC1F3BA58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62A12-295D-7C98-D781-95125BC4D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A3A4B-EA23-B5A7-BA2E-83A43DAEC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5B624-BDC4-ED43-B0C3-2A10DAEC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31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03D2B-2B0B-B284-8178-65DFB1E00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A476B5-8552-221E-4415-7B5C3D519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4A0E8-68E6-AE62-CD66-DDD44DAC4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AD854-4524-ACE9-FB2D-CD2F18394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90F6-32AF-2C4F-897B-A57EC1F3BA58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DB19F-75C4-6F16-97BA-2A33F925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0A9AE-FE9B-9957-A6D6-F13F33CB7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5B624-BDC4-ED43-B0C3-2A10DAEC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006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AF560-CF1E-68BC-4A99-D044990C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63F1C-8ABE-D10F-E5B1-0CBFE771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ABCB1-E256-94BB-812E-FFC26C964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90F6-32AF-2C4F-897B-A57EC1F3BA58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24EAB-9BD8-A01A-CC0E-5172A735C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B892A-D2F2-74C5-DB17-38AA92EE8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5B624-BDC4-ED43-B0C3-2A10DAEC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39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B6E2DF-BD75-51FD-927F-8DBB5576C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97A7C7-FE27-F4A3-42DE-F89E67D00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09190-3664-0CA7-69A6-77379ACE9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90F6-32AF-2C4F-897B-A57EC1F3BA58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AA15D-07F8-E1FA-D273-324D1E759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61400-7A00-5408-751F-61C688090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5B624-BDC4-ED43-B0C3-2A10DAEC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2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CCC325-9AE2-0DAA-9F7F-8EC46F43B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DA297-6D61-B29B-82F8-2CC67479E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E717-6A89-90C6-F8C9-20B160B2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490F6-32AF-2C4F-897B-A57EC1F3BA58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24F6E-2454-6061-378E-EB13430CB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FC157-3531-CC3A-BE60-DF9E9E649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45B624-BDC4-ED43-B0C3-2A10DAEC8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B39DD-2D57-2EFC-763E-52A454E17B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Smart Gas Heater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A7F59-D1ED-E9FB-D532-706065E8CF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40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1C30-16B4-248F-4350-7D2F4E10F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90" y="197857"/>
            <a:ext cx="6644268" cy="605031"/>
          </a:xfrm>
        </p:spPr>
        <p:txBody>
          <a:bodyPr>
            <a:normAutofit fontScale="90000"/>
          </a:bodyPr>
          <a:lstStyle/>
          <a:p>
            <a:r>
              <a:rPr lang="en-US" dirty="0"/>
              <a:t>Smart Gas Heater Architecture </a:t>
            </a:r>
          </a:p>
        </p:txBody>
      </p:sp>
      <p:pic>
        <p:nvPicPr>
          <p:cNvPr id="5" name="Content Placeholder 4" descr="A diagram of a system&#10;&#10;AI-generated content may be incorrect.">
            <a:extLst>
              <a:ext uri="{FF2B5EF4-FFF2-40B4-BE49-F238E27FC236}">
                <a16:creationId xmlns:a16="http://schemas.microsoft.com/office/drawing/2014/main" id="{CDF2843A-3CA7-375E-22BD-9923231E8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8576" y="991518"/>
            <a:ext cx="9277814" cy="5644178"/>
          </a:xfrm>
        </p:spPr>
      </p:pic>
    </p:spTree>
    <p:extLst>
      <p:ext uri="{BB962C8B-B14F-4D97-AF65-F5344CB8AC3E}">
        <p14:creationId xmlns:p14="http://schemas.microsoft.com/office/powerpoint/2010/main" val="4193255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EB6F9-9E41-DFD3-0B44-ADDD214A9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1B39-90E9-3380-D4DD-36E8FD235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8" y="328468"/>
            <a:ext cx="11775688" cy="50673"/>
          </a:xfrm>
        </p:spPr>
        <p:txBody>
          <a:bodyPr>
            <a:noAutofit/>
          </a:bodyPr>
          <a:lstStyle/>
          <a:p>
            <a:br>
              <a:rPr lang="en-US" sz="3600" dirty="0"/>
            </a:br>
            <a:br>
              <a:rPr lang="en-US" sz="3600" dirty="0"/>
            </a:br>
            <a:r>
              <a:rPr lang="en-US" sz="3600" b="1" dirty="0"/>
              <a:t>Smart Gas Heater):</a:t>
            </a:r>
            <a:br>
              <a:rPr lang="en-US" sz="3600" dirty="0"/>
            </a:br>
            <a:r>
              <a:rPr lang="en-US" sz="3600" b="1" dirty="0"/>
              <a:t> 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72DF04-85AD-BBF0-A5A0-0A71103C74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8156" y="819780"/>
            <a:ext cx="11775688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Gas Heater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project is centered on the safety risks and technological limitations of traditional gas heaters: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Safety Risks: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gas heaters pose serious risks to households due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carbon monoxide (CO) poisoning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hazards associated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unattended operation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Monitoring and Control: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These heaters lack modern features such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monitoring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control capabilities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Limitations: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initial development of the project,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 box was too large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it extra hardware that was cumbersome to carry.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 Operating Conditions: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Because heaters are made of metal, prolonged usage can cause the surface to reach temperatures exceeding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175 degrees Celsius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high-temperature environment creates challenges, such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drift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electrical components and the potential for standard materials (like FR-4 PCB substrates or leaded solder) to melt or fail.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927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6F870-4E26-BD0E-0FDE-2EDAD1519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heater with black knobs&#10;&#10;AI-generated content may be incorrect.">
            <a:extLst>
              <a:ext uri="{FF2B5EF4-FFF2-40B4-BE49-F238E27FC236}">
                <a16:creationId xmlns:a16="http://schemas.microsoft.com/office/drawing/2014/main" id="{B154BFCA-FE78-7032-0BE8-7FD86C04C2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5" r="5956"/>
          <a:stretch>
            <a:fillRect/>
          </a:stretch>
        </p:blipFill>
        <p:spPr>
          <a:xfrm>
            <a:off x="3088888" y="548568"/>
            <a:ext cx="5910146" cy="501217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12CFF0B-378D-D685-32C2-7F15475E2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384180" cy="616182"/>
          </a:xfrm>
        </p:spPr>
        <p:txBody>
          <a:bodyPr>
            <a:normAutofit fontScale="90000"/>
          </a:bodyPr>
          <a:lstStyle/>
          <a:p>
            <a:r>
              <a:rPr lang="en-US" dirty="0"/>
              <a:t>Traditional Gas Heater</a:t>
            </a:r>
          </a:p>
        </p:txBody>
      </p:sp>
    </p:spTree>
    <p:extLst>
      <p:ext uri="{BB962C8B-B14F-4D97-AF65-F5344CB8AC3E}">
        <p14:creationId xmlns:p14="http://schemas.microsoft.com/office/powerpoint/2010/main" val="2829372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A28EC-2886-EF30-ABE1-87D395E29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69D76-FAB4-144C-C8B2-86FA21A0E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8" y="328468"/>
            <a:ext cx="11775688" cy="50673"/>
          </a:xfrm>
        </p:spPr>
        <p:txBody>
          <a:bodyPr>
            <a:noAutofit/>
          </a:bodyPr>
          <a:lstStyle/>
          <a:p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b="1" dirty="0"/>
              <a:t>Smart Gas Heater Architecture</a:t>
            </a:r>
            <a:br>
              <a:rPr lang="en-US" sz="3600" dirty="0"/>
            </a:br>
            <a:r>
              <a:rPr lang="en-US" sz="3600" b="1" dirty="0"/>
              <a:t> 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630656-E398-27F6-89FB-F8B13A648D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041931"/>
            <a:ext cx="12287338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operates by using a microcontroller to bridge environmental sensor data with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mechanical safety actuators and remote user commands.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Layer (Data &amp; Commands):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DHT22 Sensor: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Monitors ambient temperature and humidity.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MQ-7 / MQ-135 Sensor: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Continuously monitors Carbon Monoxide (CO) levels.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Flame Sensor (Optional):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feedback to confirm successful ignition.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Smartphone App Interface: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Sends remote ignition/shutdown commands and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receives real-time logs/alerts.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Layer (Processing):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Microcontroller (SOI-based for high temp):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Processes sensor data against safety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thresholds and manages the heater's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059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52C6B-86FA-53C1-DF32-EE1466177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40A1-FD55-FF83-6340-2E7C05479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8" y="328468"/>
            <a:ext cx="11775688" cy="50673"/>
          </a:xfrm>
        </p:spPr>
        <p:txBody>
          <a:bodyPr>
            <a:noAutofit/>
          </a:bodyPr>
          <a:lstStyle/>
          <a:p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b="1" dirty="0"/>
              <a:t>Smart Gas Heater Architecture</a:t>
            </a:r>
            <a:br>
              <a:rPr lang="en-US" sz="3600" dirty="0"/>
            </a:br>
            <a:r>
              <a:rPr lang="en-US" sz="3600" b="1" dirty="0"/>
              <a:t> 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DD6147-C882-93CF-C479-B883013678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037" y="1398773"/>
            <a:ext cx="11951926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Layer (Action &amp; Feedback):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Solenoid Valve: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electronically controlled valve that replaces the standard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valve to manage gas flow.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Electronic Ignition System: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Facilitates remote startup of the heater.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Alerts: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Notifies the user if dangerous CO levels are detected or if the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initiates an emergency shutdown.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670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09826-95C8-833B-797D-23D6D1205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C7FB-3C74-4870-94C8-7FB72D901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8" y="-50673"/>
            <a:ext cx="11775688" cy="50673"/>
          </a:xfrm>
        </p:spPr>
        <p:txBody>
          <a:bodyPr>
            <a:noAutofit/>
          </a:bodyPr>
          <a:lstStyle/>
          <a:p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Project Development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42DCB-4A2F-C6BE-2D66-2611D2931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58" y="1146359"/>
            <a:ext cx="11550464" cy="53831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/>
              <a:t>This project identifies that traditional gas heaters pose risks such as CO poisoning and unattended operation. </a:t>
            </a:r>
          </a:p>
          <a:p>
            <a:pPr marL="0" indent="0" algn="just">
              <a:buNone/>
            </a:pPr>
            <a:r>
              <a:rPr lang="en-US" sz="2400" dirty="0"/>
              <a:t>To solve this, we developed a system with the following core capabilities:</a:t>
            </a:r>
          </a:p>
          <a:p>
            <a:pPr marL="0" indent="0" algn="just">
              <a:buNone/>
            </a:pPr>
            <a:r>
              <a:rPr lang="en-US" sz="2400" b="1" dirty="0"/>
              <a:t>Remote &amp; Automatic Control: </a:t>
            </a:r>
            <a:r>
              <a:rPr lang="en-US" sz="2400" dirty="0"/>
              <a:t>Users can ignite the heater via a mobile phone and set specific target temperatures for the room.</a:t>
            </a:r>
          </a:p>
          <a:p>
            <a:pPr marL="0" indent="0" algn="just">
              <a:buNone/>
            </a:pPr>
            <a:r>
              <a:rPr lang="en-US" sz="2400" b="1" dirty="0"/>
              <a:t>Safety Interlocks: </a:t>
            </a:r>
            <a:r>
              <a:rPr lang="en-US" sz="2400" dirty="0"/>
              <a:t>The system is programmed to automatically shut down the gas supply if CO levels exceed a safe threshold or if the room temperature reaches a predetermined limit.</a:t>
            </a:r>
          </a:p>
          <a:p>
            <a:pPr marL="0" indent="0" algn="just">
              <a:buNone/>
            </a:pPr>
            <a:r>
              <a:rPr lang="en-US" sz="2400" b="1" dirty="0"/>
              <a:t>Hardware Evolution: </a:t>
            </a:r>
            <a:r>
              <a:rPr lang="en-US" sz="2400" dirty="0"/>
              <a:t>To address the bulkiness of the initial controller box, we transitioned to a custom PCB designed to be mounted directly onto the heater's metal chassis.</a:t>
            </a:r>
          </a:p>
        </p:txBody>
      </p:sp>
    </p:spTree>
    <p:extLst>
      <p:ext uri="{BB962C8B-B14F-4D97-AF65-F5344CB8AC3E}">
        <p14:creationId xmlns:p14="http://schemas.microsoft.com/office/powerpoint/2010/main" val="2658880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DD432-CDD8-9507-D711-726CD1960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E0E8E-4A4A-2950-42A3-0E69758B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8" y="328468"/>
            <a:ext cx="11775688" cy="50673"/>
          </a:xfrm>
        </p:spPr>
        <p:txBody>
          <a:bodyPr>
            <a:noAutofit/>
          </a:bodyPr>
          <a:lstStyle/>
          <a:p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Smart Heater app</a:t>
            </a:r>
            <a:br>
              <a:rPr lang="en-US" sz="3600" dirty="0"/>
            </a:br>
            <a:r>
              <a:rPr lang="en-US" sz="3600" b="1" dirty="0"/>
              <a:t> 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BCDE7F-B8EE-3103-ABE9-1966471A7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91174" y="1111570"/>
            <a:ext cx="8370277" cy="523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02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86D28-C5EA-4800-259D-21F073C7B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BE82A-57BC-80F2-4BB6-709629EAE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8" y="328468"/>
            <a:ext cx="11775688" cy="50673"/>
          </a:xfrm>
        </p:spPr>
        <p:txBody>
          <a:bodyPr>
            <a:noAutofit/>
          </a:bodyPr>
          <a:lstStyle/>
          <a:p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Critical Technical Challenges</a:t>
            </a:r>
            <a:br>
              <a:rPr lang="en-US" sz="3600" dirty="0"/>
            </a:br>
            <a:r>
              <a:rPr lang="en-US" sz="3600" b="1" dirty="0"/>
              <a:t> 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E4394-6A20-98B6-0A9D-08A8DC983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58" y="1146359"/>
            <a:ext cx="11550464" cy="538317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primary challenge identified in the presentation is High-Temperature Degradation, as the heater's metal surface can exceed 175°C. </a:t>
            </a:r>
          </a:p>
          <a:p>
            <a:pPr algn="just"/>
            <a:r>
              <a:rPr lang="en-US" dirty="0"/>
              <a:t>We mitigated this through specialized engineering choices:</a:t>
            </a:r>
          </a:p>
          <a:p>
            <a:pPr algn="just"/>
            <a:r>
              <a:rPr lang="en-US" dirty="0"/>
              <a:t>Substrate Selection: Using a polyimide substrate for the PCB because standard FR-4 fails above 170°C.</a:t>
            </a:r>
          </a:p>
          <a:p>
            <a:pPr algn="just"/>
            <a:r>
              <a:rPr lang="en-US" dirty="0"/>
              <a:t>High-Temp Soldering: Utilizing high-lead (</a:t>
            </a:r>
            <a:r>
              <a:rPr lang="en-US" dirty="0" err="1"/>
              <a:t>PbSn</a:t>
            </a:r>
            <a:r>
              <a:rPr lang="en-US" dirty="0"/>
              <a:t>) or gold-based (</a:t>
            </a:r>
            <a:r>
              <a:rPr lang="en-US" dirty="0" err="1"/>
              <a:t>AuSn</a:t>
            </a:r>
            <a:r>
              <a:rPr lang="en-US" dirty="0"/>
              <a:t>) solders with melting points exceeding 280°C–300°C to ensure joints do not liquefy under thermal stress.</a:t>
            </a:r>
          </a:p>
          <a:p>
            <a:pPr algn="just"/>
            <a:r>
              <a:rPr lang="en-US" dirty="0"/>
              <a:t>Component Hardening: Sourcing Silicon-on-Insulator (SOI) microcontrollers and high-temperature passive components (thin-film resistors and C0G ceramic capacitors) to prevent performance drift.</a:t>
            </a:r>
          </a:p>
        </p:txBody>
      </p:sp>
    </p:spTree>
    <p:extLst>
      <p:ext uri="{BB962C8B-B14F-4D97-AF65-F5344CB8AC3E}">
        <p14:creationId xmlns:p14="http://schemas.microsoft.com/office/powerpoint/2010/main" val="1556215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607</Words>
  <Application>Microsoft Macintosh PowerPoint</Application>
  <PresentationFormat>Widescreen</PresentationFormat>
  <Paragraphs>51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Smart Gas Heater</vt:lpstr>
      <vt:lpstr>Smart Gas Heater Architecture </vt:lpstr>
      <vt:lpstr>  Smart Gas Heater):   </vt:lpstr>
      <vt:lpstr>Traditional Gas Heater</vt:lpstr>
      <vt:lpstr>   Smart Gas Heater Architecture   </vt:lpstr>
      <vt:lpstr>   Smart Gas Heater Architecture   </vt:lpstr>
      <vt:lpstr>   Project Development Summary</vt:lpstr>
      <vt:lpstr>   Smart Heater app   </vt:lpstr>
      <vt:lpstr>   Critical Technical Challenges  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Anwar Awan</dc:creator>
  <cp:lastModifiedBy>Adnan Anwar Awan</cp:lastModifiedBy>
  <cp:revision>8</cp:revision>
  <dcterms:created xsi:type="dcterms:W3CDTF">2026-02-02T00:37:33Z</dcterms:created>
  <dcterms:modified xsi:type="dcterms:W3CDTF">2026-02-02T01:29:58Z</dcterms:modified>
</cp:coreProperties>
</file>